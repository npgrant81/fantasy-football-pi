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7" r:id="rId3"/>
    <p:sldId id="278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70" r:id="rId13"/>
    <p:sldId id="271" r:id="rId14"/>
    <p:sldId id="265" r:id="rId15"/>
    <p:sldId id="266" r:id="rId16"/>
    <p:sldId id="267" r:id="rId17"/>
    <p:sldId id="268" r:id="rId18"/>
    <p:sldId id="269" r:id="rId19"/>
    <p:sldId id="272" r:id="rId20"/>
    <p:sldId id="273" r:id="rId21"/>
    <p:sldId id="274" r:id="rId22"/>
    <p:sldId id="275" r:id="rId23"/>
    <p:sldId id="276" r:id="rId24"/>
    <p:sldId id="279" r:id="rId25"/>
    <p:sldId id="280" r:id="rId30"/>
    <p:sldId id="281" r:id="rId31"/>
    <p:sldId id="282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AA14FE3-E3F6-49CC-98BC-7AF97B4DFBEA}">
          <p14:sldIdLst>
            <p14:sldId id="256"/>
            <p14:sldId id="277"/>
            <p14:sldId id="278"/>
          </p14:sldIdLst>
        </p14:section>
        <p14:section name="Login Page" id="{A512D38A-1B7C-43E5-87EC-3D145DF61FD1}">
          <p14:sldIdLst>
            <p14:sldId id="257"/>
          </p14:sldIdLst>
        </p14:section>
        <p14:section name="HomePage" id="{4487FE14-CB3F-4C7E-B870-048A9DE6E9CC}">
          <p14:sldIdLst>
            <p14:sldId id="258"/>
            <p14:sldId id="259"/>
            <p14:sldId id="260"/>
          </p14:sldIdLst>
        </p14:section>
        <p14:section name="Sidebar" id="{6A25F8F7-F1F1-4F36-A463-B340824D0C7B}">
          <p14:sldIdLst>
            <p14:sldId id="261"/>
          </p14:sldIdLst>
        </p14:section>
        <p14:section name="My Team" id="{378C46EE-67E0-44D1-B552-311CDF7BA2D2}">
          <p14:sldIdLst>
            <p14:sldId id="262"/>
            <p14:sldId id="263"/>
          </p14:sldIdLst>
        </p14:section>
        <p14:section name="Draft Board" id="{1A66839A-D1B4-4F48-AD19-946DE0467252}">
          <p14:sldIdLst>
            <p14:sldId id="264"/>
            <p14:sldId id="270"/>
            <p14:sldId id="271"/>
          </p14:sldIdLst>
        </p14:section>
        <p14:section name="Matchups" id="{98E1E9D6-B207-469A-A745-93A08643A0C3}">
          <p14:sldIdLst>
            <p14:sldId id="265"/>
            <p14:sldId id="266"/>
          </p14:sldIdLst>
        </p14:section>
        <p14:section name="Draft Day Analyzer" id="{3E300A20-B5A3-4789-AD35-74B965AAF6D1}">
          <p14:sldIdLst>
            <p14:sldId id="267"/>
            <p14:sldId id="268"/>
            <p14:sldId id="269"/>
          </p14:sldIdLst>
        </p14:section>
        <p14:section name="League Analytics" id="{05E71ACD-3BC3-4FC3-9495-2E66ED5C1374}">
          <p14:sldIdLst>
            <p14:sldId id="272"/>
          </p14:sldIdLst>
        </p14:section>
        <p14:section name="League Ledger" id="{177587BE-FD48-4657-A1B3-209CA8AC6F5D}">
          <p14:sldIdLst>
            <p14:sldId id="273"/>
          </p14:sldIdLst>
        </p14:section>
        <p14:section name="Commissioner Section" id="{EF5CB13A-1FD1-451E-9143-21E2DBBF045D}">
          <p14:sldIdLst>
            <p14:sldId id="274"/>
            <p14:sldId id="275"/>
            <p14:sldId id="276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3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20C53-1706-E675-3C76-C28AFC8258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CA971B-E8AE-83D2-83D8-E08C82EFCA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50AB-D10A-2261-538B-6589B7219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8EBCD5-D2D9-8AE5-D699-3E05008AA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883E-C725-62D7-AAA2-9EB0D7FF4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4999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7CAEA-A32C-0B1A-925C-1ECDE5415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4FFF2-DA4F-86B2-C7F7-01A1BA745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7F38D1-B6BB-F11E-9798-F39CDB126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53181-770A-C83C-B2E6-0B1C466D1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1BF0C-F11C-4367-1C95-DD04D0FC2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93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F3DA6-39A9-49B5-F476-EECD626D5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BCBAA3-EA8F-6D6D-B9EF-9902857190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5864A0-EF37-647C-5B9C-B3EB6CC50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9A223-5042-9D18-4F50-75A0D3ED7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845A4-8179-7E62-6580-52F8D6A7A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713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3474F-C6D2-8870-A2A7-30BEEDD76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F9947-3B52-B9F4-432C-DD2121E9CE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1C770C-4442-276B-761D-763CB515B6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8444CE-D0B8-4985-8F37-4F937248C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DF8F7B-01D4-A36B-8AD1-79CA21B6B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02F941-714B-5FE4-E035-E6D630798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446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05CC1-A7EF-0952-901A-E526E5CB8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D255F8-BB1E-3A36-E8F8-5818FF0CD4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2CF08-1749-68C9-E6CE-CBE2DB82FE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DC64E-2F5C-E0CA-40DD-74290B70F0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931146-94E2-ADC4-EEF7-C3D31EBABC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1D6784-0E97-EBA7-7BCD-8816C6698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DD1308-0FCB-B068-AB82-7186DCA51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EEFC04-307F-3C95-B3F5-4A325D997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1306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8CB-0D57-991F-BDF6-5F80EA7EC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0B6E6-00BC-4261-96AE-3CA686DE3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13026F-846A-F1A6-3B08-1531DBF0D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421339-A747-94FE-3EE9-7FB0B92F7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588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275F57-0A0B-3332-FA02-3B21FBCD1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A4437-8196-A71D-F99C-63FB7BCD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1D404-5314-EA6E-B267-2D1929DD9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716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2AD3B-4FFA-198D-D7F6-1AD8F38EE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CEE46-CA62-259C-E48D-F5A1D6584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F2719E-C2EF-1A6B-9F6E-DB90BD91D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1D513B-CD0C-56A1-29B0-0FA01BBC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067413-DB88-6B9D-FF47-F24021EB7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273AF5-D786-8C5D-DE63-9CD7B7875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745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419CD-EC6A-4583-1403-7B1672ED9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F96AF0-590A-0201-339D-F9FAF47675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756DBA-9A4D-B07F-F26A-DE3CBB9D8A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0037E-59E1-6F6E-977A-7115397C9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BBD7E4-7398-76BC-4AEA-70FDE0CFD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C0FE5B-68D7-3C51-3995-C3334E46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383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DC70B-2E99-1F8E-5E89-F93CFC801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F49942-CF1A-7B49-7C3F-79BAABBCC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E1442-05B2-83FE-1D6D-D39EC20EB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F4FBCC-54AD-AC18-689D-B6258602E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B8521-8559-E58A-0F89-E8D90BE55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119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ABAC61F-12BE-BF76-67DA-DFC4F5123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021FF1-E139-4CB3-9DA5-5DBB3832F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46901F-E409-A0D6-91A6-CB277D02F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00E39-46AD-0A71-A7A1-6DF27AF8D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9C1BAC-E4F5-C101-369F-88A985AEF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064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2FB296-067A-3077-5A91-47948E08E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FA774C-7BB3-8D24-879E-19D4C3DE17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0FB07-5103-5073-8ECD-9A468EFB6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391C8D-5E78-45E6-8E31-5E0DAAB5E5B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3833B-A56B-7695-51C6-2F9613F91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DD566-7FEF-F30D-1CF8-689E404B03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82CA31-78B8-4B50-A76F-0B2707EB29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345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image" Target="../media/image4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8.png"/><Relationship Id="rId4" Type="http://schemas.openxmlformats.org/officeDocument/2006/relationships/image" Target="../media/image4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5.png"/><Relationship Id="rId4" Type="http://schemas.openxmlformats.org/officeDocument/2006/relationships/image" Target="../media/image39.png"/><Relationship Id="rId5" Type="http://schemas.openxmlformats.org/officeDocument/2006/relationships/image" Target="../media/image4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2.png"/><Relationship Id="rId4" Type="http://schemas.openxmlformats.org/officeDocument/2006/relationships/image" Target="../media/image4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3.png"/><Relationship Id="rId4" Type="http://schemas.openxmlformats.org/officeDocument/2006/relationships/image" Target="../media/image4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3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2.png"/><Relationship Id="rId4" Type="http://schemas.openxmlformats.org/officeDocument/2006/relationships/image" Target="../media/image4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06D914-6CF4-1109-627F-C14380C665D9}"/>
              </a:ext>
            </a:extLst>
          </p:cNvPr>
          <p:cNvSpPr txBox="1"/>
          <p:nvPr/>
        </p:nvSpPr>
        <p:spPr>
          <a:xfrm>
            <a:off x="607554" y="3553272"/>
            <a:ext cx="4031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PPL Insight Hub</a:t>
            </a:r>
          </a:p>
        </p:txBody>
      </p:sp>
    </p:spTree>
    <p:extLst>
      <p:ext uri="{BB962C8B-B14F-4D97-AF65-F5344CB8AC3E}">
        <p14:creationId xmlns:p14="http://schemas.microsoft.com/office/powerpoint/2010/main" val="765166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is a fantasy football operations platform that helps leagues draft smarter, manage teams, and run season workflows in one place.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7269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WHAT THE SITE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69494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The platform combines league management, draft support, AI guidance, roster operations, and commissioner controls. It is designed as a single destination for both weekly management and season-long planning.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44752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000000"/>
                </a:solidFill>
                <a:latin typeface="Aptos"/>
              </a:rPr>
              <a:t>CURRENT DEVELOPMENT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56231"/>
            <a:ext cx="3611880" cy="11704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Aptos"/>
              </a:rPr>
              <a:t>Core user journeys are implemented and under UAT: login, home, roster flows, waivers, analytics, and commissioner settings. Current focus is usability validation, defect triage, and release-readiness hardening.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82112"/>
            <a:ext cx="7269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TIMELINE FOR IMPLEMENTATION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611880"/>
            <a:ext cx="694944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Aptos"/>
              </a:rPr>
              <a:t>- Phase 1 (Current): UAT execution on priority P0 and P1 workflows.</a:t>
            </a:r>
          </a:p>
          <a:p>
            <a:r>
              <a:rPr sz="1300" b="0">
                <a:solidFill>
                  <a:srgbClr val="000000"/>
                </a:solidFill>
                <a:latin typeface="Aptos"/>
              </a:rPr>
              <a:t>- Phase 2 (Next): Address critical defects, stabilize integrations, and re-test blocked scenarios.</a:t>
            </a:r>
          </a:p>
          <a:p>
            <a:r>
              <a:rPr sz="1300" b="0">
                <a:solidFill>
                  <a:srgbClr val="000000"/>
                </a:solidFill>
                <a:latin typeface="Aptos"/>
              </a:rPr>
              <a:t>- Phase 3 (Release): Final acceptance sign-off, production checklist, and rollout communication.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3246120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BENEFIT TO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657600"/>
            <a:ext cx="36118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Aptos"/>
              </a:rPr>
              <a:t>- Saves time by centralizing fantasy workflows in one platform.</a:t>
            </a:r>
          </a:p>
          <a:p>
            <a:r>
              <a:rPr sz="1300" b="0">
                <a:solidFill>
                  <a:srgbClr val="000000"/>
                </a:solidFill>
                <a:latin typeface="Aptos"/>
              </a:rPr>
              <a:t>- Improves decision quality with analytics and guided recommendations.</a:t>
            </a:r>
          </a:p>
          <a:p>
            <a:r>
              <a:rPr sz="1300" b="0">
                <a:solidFill>
                  <a:srgbClr val="000000"/>
                </a:solidFill>
                <a:latin typeface="Aptos"/>
              </a:rPr>
              <a:t>- Creates a clearer, more consistent league experience for managers and commissioners.</a:t>
            </a:r>
          </a:p>
        </p:txBody>
      </p:sp>
    </p:spTree>
    <p:extLst>
      <p:ext uri="{BB962C8B-B14F-4D97-AF65-F5344CB8AC3E}">
        <p14:creationId xmlns:p14="http://schemas.microsoft.com/office/powerpoint/2010/main" val="2012393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Page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This directory gives users a quick map of each major page and the core reason to use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15568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92240"/>
                <a:gridCol w="2286000"/>
              </a:tblGrid>
              <a:tr h="40444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ptos"/>
                        </a:rPr>
                        <a:t>Page / Area</a:t>
                      </a:r>
                    </a:p>
                  </a:txBody>
                  <a:tcPr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ptos"/>
                        </a:rPr>
                        <a:t>High-Level Context</a:t>
                      </a:r>
                    </a:p>
                  </a:txBody>
                  <a:tcPr>
                    <a:solidFill>
                      <a:srgbClr val="E6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Aptos"/>
                        </a:rPr>
                        <a:t>Primary Users</a:t>
                      </a:r>
                    </a:p>
                  </a:txBody>
                  <a:tcPr>
                    <a:solidFill>
                      <a:srgbClr val="E6EEF2"/>
                    </a:solidFill>
                  </a:tcPr>
                </a:tc>
              </a:tr>
              <a:tr h="40444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Login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Sign in securely and access the right league context.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All users</a:t>
                      </a:r>
                    </a:p>
                  </a:txBody>
                  <a:tcPr/>
                </a:tc>
              </a:tr>
              <a:tr h="40444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Home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See standings, headlines, and shortcuts to common actions.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All users</a:t>
                      </a:r>
                    </a:p>
                  </a:txBody>
                  <a:tcPr/>
                </a:tc>
              </a:tr>
              <a:tr h="40444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War Room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Run the live auction draft experience in real time.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Managers + Commissioner</a:t>
                      </a:r>
                    </a:p>
                  </a:txBody>
                  <a:tcPr/>
                </a:tc>
              </a:tr>
              <a:tr h="40444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Chat Advisor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Ask league questions and get plain-language guidance.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All users</a:t>
                      </a:r>
                    </a:p>
                  </a:txBody>
                  <a:tcPr/>
                </a:tc>
              </a:tr>
              <a:tr h="40444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My Team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Set lineups, review roster health, and manage weekly decisions.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Managers</a:t>
                      </a:r>
                    </a:p>
                  </a:txBody>
                  <a:tcPr/>
                </a:tc>
              </a:tr>
              <a:tr h="40444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Matchups / Game Center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Compare teams, track outcomes, and review matchup detail.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Managers</a:t>
                      </a:r>
                    </a:p>
                  </a:txBody>
                  <a:tcPr/>
                </a:tc>
              </a:tr>
              <a:tr h="40444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Waiver Wire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Submit claims and make roster pickup/drop moves.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Managers</a:t>
                      </a:r>
                    </a:p>
                  </a:txBody>
                  <a:tcPr/>
                </a:tc>
              </a:tr>
              <a:tr h="40444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Keepers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Review and submit keeper selections for future seasons.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Managers + Commissioner</a:t>
                      </a:r>
                    </a:p>
                  </a:txBody>
                  <a:tcPr/>
                </a:tc>
              </a:tr>
              <a:tr h="40444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Analytics / Playoff Bracket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View trends, projections, and postseason status.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All users</a:t>
                      </a:r>
                    </a:p>
                  </a:txBody>
                  <a:tcPr/>
                </a:tc>
              </a:tr>
              <a:tr h="40444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Commissioner Tools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Manage owners, rules, trades, and divisions.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Commissioner</a:t>
                      </a:r>
                    </a:p>
                  </a:txBody>
                  <a:tcPr/>
                </a:tc>
              </a:tr>
              <a:tr h="404446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Admin Settings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Handle platform-level maintenance and configuration.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Admin</a:t>
                      </a:r>
                    </a:p>
                  </a:txBody>
                  <a:tcPr/>
                </a:tc>
              </a:tr>
              <a:tr h="40444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Report a Bug + UAT Handoff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Capture defects with evidence and pass results to triage.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Aptos"/>
                        </a:rPr>
                        <a:t>All testers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1578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Login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Login Page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User enters username, password, and league ID.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System validates credentials and opens the app.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If sign-in fails, user sees a clear error message.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503" y="1589460"/>
            <a:ext cx="7149503" cy="479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845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Home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Home Page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Shows standings, league news, and navigation shortcuts.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Users open team pages and move to key workflows.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Great first stop before making lineup or waiver decisions.</a:t>
            </a:r>
          </a:p>
        </p:txBody>
      </p:sp>
      <p:pic>
        <p:nvPicPr>
          <p:cNvPr id="11" name="Picture 10" descr="uat_home_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10" y="1346894"/>
            <a:ext cx="10245433" cy="4845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58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War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War Room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Users nominate, bid, and track picks in real time.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Shows budgets, draft history, and available players.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Commissioner can monitor and control draft flow.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4833"/>
            <a:ext cx="12192000" cy="572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624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Chat Advisor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Chat Advisor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Users ask questions like rankings, matchups, and trends.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Responses should be fast, clear, and relevant.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If service is slow, user should see a clear status message.</a:t>
            </a:r>
          </a:p>
        </p:txBody>
      </p:sp>
      <p:pic>
        <p:nvPicPr>
          <p:cNvPr id="11" name="Picture 10" descr="uat_home_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906" y="1343984"/>
            <a:ext cx="5244401" cy="4937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284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Draft Day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Draft Day Analyzer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Highlights value opportunities and roster balance.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Supports smarter pick and budget decisions.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Complements War Room with planning context.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15" y="1294888"/>
            <a:ext cx="9957832" cy="4569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456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My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My Team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Users switch views, edit lineup, and submit changes.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Lineup rules should be clear and enforceable.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Saved updates must persist after refresh.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167" y="1236269"/>
            <a:ext cx="7919071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338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Matchups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Matchups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Displays head-to-head matchups by week.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Users move between weeks and scoring views.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Data should stay accurate and easy to read.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96" y="764696"/>
            <a:ext cx="4810796" cy="559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04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Game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Game Center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Shows starter vs bench impact and remaining game context.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Users can understand where points are being won or lost.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Live updates should remain stable and readable.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07" y="1180770"/>
            <a:ext cx="8071225" cy="490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8193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Waiver Wire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Waiver Wire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Users browse players by position and submit claims.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Claim and drop actions should confirm clearly.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Submitted claims must still appear after refresh.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940" y="190048"/>
            <a:ext cx="9812119" cy="647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712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Keepers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Keepers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Users choose eligible players to keep.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System should apply league keeper rules correctly.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Saved selections must be visible and trackable.</a:t>
            </a:r>
          </a:p>
        </p:txBody>
      </p:sp>
      <p:pic>
        <p:nvPicPr>
          <p:cNvPr id="11" name="Picture 10" descr="uat_home_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3309" y="1066671"/>
            <a:ext cx="2536173" cy="535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118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Analytics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Users review leaderboards, trends, and comparisons.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Charts should load quickly and match source data.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Insights should help with lineup and trade decisions.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837"/>
            <a:ext cx="12192000" cy="646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004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Playoff Bracket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Playoff Bracket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Users can view rounds and matchup paths.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Bracket should reflect latest playoff data.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Layout must remain readable on common screen sizes.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78" y="1155678"/>
            <a:ext cx="7705833" cy="4773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1758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Commissioner Dashboard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Commissioner accesses settings and management tools.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Role access must block non-commissioner users.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Changes should save and be visible to league users.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30" y="1097851"/>
            <a:ext cx="7650949" cy="4662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828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Manage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Commissioner - Manage Owners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Commissioner reviews and updates owner information.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Actions must be clear and safely validated.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Saved updates should remain after refresh.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1637"/>
            <a:ext cx="12192000" cy="633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78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Lineup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Commissioner - Lineup Rules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Commissioner sets allowable roster and starter rules.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Rule changes should apply in My Team workflows.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Users should get clear pass/fail lineup feedback.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11439"/>
            <a:ext cx="12192000" cy="383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675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Waiver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Commissioner - Waiver Rules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Commissioner sets waiver type, timing, and constraints.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Rule changes should affect waiver actions correctly.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Saved settings must persist and display correctly.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65" y="832629"/>
            <a:ext cx="8800589" cy="5319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717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Manage Trades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Commissioner - Manage Trades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Commissioner views pending trade requests.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Approve/reject actions should update status immediately.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Trade decisions must remain visible after refresh.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344" y="1159876"/>
            <a:ext cx="8135488" cy="4875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744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Commissioner - Manage Divisions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Commissioner - Manage Divisions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Commissioner previews and finalizes division setup.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Assignment updates must be reflected in standings context.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Actions should provide clear confirmation feedback.</a:t>
            </a:r>
          </a:p>
        </p:txBody>
      </p:sp>
      <p:pic>
        <p:nvPicPr>
          <p:cNvPr id="11" name="Picture 10" descr="uat_commissioner_manage_divisions_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7" y="908264"/>
            <a:ext cx="8551708" cy="5207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830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Admin Settings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Admin Settings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Admin manages system-level controls and commissioner access.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Only authorized admin users should have access.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Operational actions must return clear success/error status.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48" y="1346894"/>
            <a:ext cx="8166337" cy="498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7218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Report a Bug + UAT Handoff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Report a Bug + UAT Handoff introduces this feature and the primary actions users can complete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Users should understand what this page does and what to do next. Main tasks should be obvious and simple to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Tester logs pass/fail/blocked status in uat_master.xlsx.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Failures include actual result, evidence link, and bug ticket.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Team asks Copilot to review latest UAT results and summarize blockers.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84" y="1393569"/>
            <a:ext cx="7784963" cy="480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1844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Key Modals and Overlays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Modal states are captured separately for workflows that require confirmation or admin actions.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Highlight commissioner-only overlays required to configure draft controls.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Set Draft Budgets modal is captured from Commissioner Dashboard.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Slide validates visibility, legibility, and primary action placement.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References: docs/ARCHITECTURE.md and docs/UI_REFERENCE.md.</a:t>
            </a:r>
          </a:p>
        </p:txBody>
      </p:sp>
    </p:spTree>
    <p:extLst>
      <p:ext uri="{BB962C8B-B14F-4D97-AF65-F5344CB8AC3E}">
        <p14:creationId xmlns:p14="http://schemas.microsoft.com/office/powerpoint/2010/main" val="2847299608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Trade Proposal 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Modal states are captured separately for workflows that require confirmation or admin actions.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Capture trade initiation controls before a proposal is submitted.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Propose Trade modal validates manager, offered player, and requested player fields.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Captures form controls and labels used by non-technical testers.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Source workflow: /team from docs/API_PAGE_MATRIX.md.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Player Season Performance 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Modal states are captured separately for workflows that require confirmation or admin actions.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Show player-level season details in the roster workflow.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Season Performance modal is opened from roster player cards.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Ensures detail cards and season metrics are visible and readable.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Coverage aligns with docs/FRONTEND_UI_STANDARDS.md modal behavior.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7150608" cy="47914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09728"/>
            <a:ext cx="6583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PPL Insight Hub - UAT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Waiver Wire Modal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ptos"/>
              </a:rPr>
              <a:t>Modal states are captured separately for workflows that require confirmation or admin actions.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73568" y="1408176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847088"/>
            <a:ext cx="36118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Track waiver modal targets that are captured opportunistically based on route state.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3493008"/>
            <a:ext cx="3922776" cy="356616"/>
          </a:xfrm>
          <a:prstGeom prst="rect">
            <a:avLst/>
          </a:prstGeom>
          <a:solidFill>
            <a:srgbClr val="FFFFFF"/>
          </a:solidFill>
          <a:ln>
            <a:solidFill>
              <a:srgbClr val="124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000000"/>
                </a:solidFill>
                <a:latin typeface="Aptos"/>
              </a:rPr>
              <a:t>CORE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913632"/>
            <a:ext cx="361188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Aptos"/>
              </a:rPr>
              <a:t>- Waiver confirmation modal validates the explicit user approval step.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Roster-full (drop player) overlay is captured in the screenshot runbook set.</a:t>
            </a:r>
          </a:p>
          <a:p>
            <a:r>
              <a:rPr sz="1400" b="0">
                <a:solidFill>
                  <a:srgbClr val="000000"/>
                </a:solidFill>
                <a:latin typeface="Aptos"/>
              </a:rPr>
              <a:t>- Use docs/UI_REFERENCE.md and docs/API_PAGE_MATRIX.md for workflow checks.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1222</Words>
  <Application>Microsoft Office PowerPoint</Application>
  <PresentationFormat>Widescreen</PresentationFormat>
  <Paragraphs>181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Nick Grant</dc:creator>
  <cp:lastModifiedBy>Nick Grant</cp:lastModifiedBy>
  <cp:revision>2</cp:revision>
  <dcterms:created xsi:type="dcterms:W3CDTF">2026-03-07T21:22:06Z</dcterms:created>
  <dcterms:modified xsi:type="dcterms:W3CDTF">2026-03-07T22:00:09Z</dcterms:modified>
</cp:coreProperties>
</file>