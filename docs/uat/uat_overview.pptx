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7" r:id="rId3"/>
    <p:sldId id="278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70" r:id="rId13"/>
    <p:sldId id="271" r:id="rId14"/>
    <p:sldId id="265" r:id="rId15"/>
    <p:sldId id="266" r:id="rId16"/>
    <p:sldId id="267" r:id="rId17"/>
    <p:sldId id="268" r:id="rId18"/>
    <p:sldId id="269" r:id="rId19"/>
    <p:sldId id="272" r:id="rId20"/>
    <p:sldId id="273" r:id="rId21"/>
    <p:sldId id="274" r:id="rId22"/>
    <p:sldId id="275" r:id="rId23"/>
    <p:sldId id="276" r:id="rId24"/>
    <p:sldId id="279" r:id="rId25"/>
    <p:sldId id="280" r:id="rId26"/>
    <p:sldId id="281" r:id="rId27"/>
    <p:sldId id="282" r:id="rId28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AA14FE3-E3F6-49CC-98BC-7AF97B4DFBEA}">
          <p14:sldIdLst>
            <p14:sldId id="256"/>
            <p14:sldId id="277"/>
            <p14:sldId id="278"/>
          </p14:sldIdLst>
        </p14:section>
        <p14:section name="Login Page" id="{A512D38A-1B7C-43E5-87EC-3D145DF61FD1}">
          <p14:sldIdLst>
            <p14:sldId id="257"/>
          </p14:sldIdLst>
        </p14:section>
        <p14:section name="HomePage" id="{4487FE14-CB3F-4C7E-B870-048A9DE6E9CC}">
          <p14:sldIdLst>
            <p14:sldId id="258"/>
            <p14:sldId id="259"/>
            <p14:sldId id="260"/>
          </p14:sldIdLst>
        </p14:section>
        <p14:section name="Sidebar" id="{6A25F8F7-F1F1-4F36-A463-B340824D0C7B}">
          <p14:sldIdLst>
            <p14:sldId id="261"/>
          </p14:sldIdLst>
        </p14:section>
        <p14:section name="My Team" id="{378C46EE-67E0-44D1-B552-311CDF7BA2D2}">
          <p14:sldIdLst>
            <p14:sldId id="262"/>
            <p14:sldId id="263"/>
          </p14:sldIdLst>
        </p14:section>
        <p14:section name="Draft Board" id="{1A66839A-D1B4-4F48-AD19-946DE0467252}">
          <p14:sldIdLst>
            <p14:sldId id="264"/>
            <p14:sldId id="270"/>
            <p14:sldId id="271"/>
          </p14:sldIdLst>
        </p14:section>
        <p14:section name="Matchups" id="{98E1E9D6-B207-469A-A745-93A08643A0C3}">
          <p14:sldIdLst>
            <p14:sldId id="265"/>
            <p14:sldId id="266"/>
          </p14:sldIdLst>
        </p14:section>
        <p14:section name="Draft Day Analyzer" id="{3E300A20-B5A3-4789-AD35-74B965AAF6D1}">
          <p14:sldIdLst>
            <p14:sldId id="267"/>
            <p14:sldId id="268"/>
            <p14:sldId id="269"/>
          </p14:sldIdLst>
        </p14:section>
        <p14:section name="League Analytics" id="{05E71ACD-3BC3-4FC3-9495-2E66ED5C1374}">
          <p14:sldIdLst>
            <p14:sldId id="272"/>
          </p14:sldIdLst>
        </p14:section>
        <p14:section name="League Ledger" id="{177587BE-FD48-4657-A1B3-209CA8AC6F5D}">
          <p14:sldIdLst>
            <p14:sldId id="273"/>
          </p14:sldIdLst>
        </p14:section>
        <p14:section name="Commissioner Section" id="{EF5CB13A-1FD1-451E-9143-21E2DBBF045D}">
          <p14:sldIdLst>
            <p14:sldId id="274"/>
            <p14:sldId id="275"/>
            <p14:sldId id="276"/>
            <p14:sldId id="279"/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108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20C53-1706-E675-3C76-C28AFC8258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CA971B-E8AE-83D2-83D8-E08C82EFCA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0350AB-D10A-2261-538B-6589B7219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91C8D-5E78-45E6-8E31-5E0DAAB5E5B1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8EBCD5-D2D9-8AE5-D699-3E05008AA1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883E-C725-62D7-AAA2-9EB0D7FF4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2CA31-78B8-4B50-A76F-0B2707EB29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4999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7CAEA-A32C-0B1A-925C-1ECDE5415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34FFF2-DA4F-86B2-C7F7-01A1BA745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7F38D1-B6BB-F11E-9798-F39CDB126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91C8D-5E78-45E6-8E31-5E0DAAB5E5B1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C53181-770A-C83C-B2E6-0B1C466D1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41BF0C-F11C-4367-1C95-DD04D0FC2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2CA31-78B8-4B50-A76F-0B2707EB29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5936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F3DA6-39A9-49B5-F476-EECD626D5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BCBAA3-EA8F-6D6D-B9EF-9902857190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5864A0-EF37-647C-5B9C-B3EB6CC50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91C8D-5E78-45E6-8E31-5E0DAAB5E5B1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99A223-5042-9D18-4F50-75A0D3ED7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3845A4-8179-7E62-6580-52F8D6A7A5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2CA31-78B8-4B50-A76F-0B2707EB29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77134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3474F-C6D2-8870-A2A7-30BEEDD76E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4F9947-3B52-B9F4-432C-DD2121E9CE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1C770C-4442-276B-761D-763CB515B6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8444CE-D0B8-4985-8F37-4F937248CD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91C8D-5E78-45E6-8E31-5E0DAAB5E5B1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DF8F7B-01D4-A36B-8AD1-79CA21B6BB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02F941-714B-5FE4-E035-E6D630798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2CA31-78B8-4B50-A76F-0B2707EB29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4463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05CC1-A7EF-0952-901A-E526E5CB8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D255F8-BB1E-3A36-E8F8-5818FF0CD4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E2CF08-1749-68C9-E6CE-CBE2DB82FE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ADC64E-2F5C-E0CA-40DD-74290B70F0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1931146-94E2-ADC4-EEF7-C3D31EBABC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1D6784-0E97-EBA7-7BCD-8816C6698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91C8D-5E78-45E6-8E31-5E0DAAB5E5B1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4DD1308-0FCB-B068-AB82-7186DCA51D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EEFC04-307F-3C95-B3F5-4A325D997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2CA31-78B8-4B50-A76F-0B2707EB29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1306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3D8CB-0D57-991F-BDF6-5F80EA7EC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30B6E6-00BC-4261-96AE-3CA686DE3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91C8D-5E78-45E6-8E31-5E0DAAB5E5B1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13026F-846A-F1A6-3B08-1531DBF0D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421339-A747-94FE-3EE9-7FB0B92F7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2CA31-78B8-4B50-A76F-0B2707EB29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25881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275F57-0A0B-3332-FA02-3B21FBCD1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91C8D-5E78-45E6-8E31-5E0DAAB5E5B1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2A4437-8196-A71D-F99C-63FB7BCD1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B1D404-5314-EA6E-B267-2D1929DD9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2CA31-78B8-4B50-A76F-0B2707EB29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47165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2AD3B-4FFA-198D-D7F6-1AD8F38EE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CEE46-CA62-259C-E48D-F5A1D65841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F2719E-C2EF-1A6B-9F6E-DB90BD91D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1D513B-CD0C-56A1-29B0-0FA01BBCF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91C8D-5E78-45E6-8E31-5E0DAAB5E5B1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067413-DB88-6B9D-FF47-F24021EB7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273AF5-D786-8C5D-DE63-9CD7B7875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2CA31-78B8-4B50-A76F-0B2707EB29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745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419CD-EC6A-4583-1403-7B1672ED9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F96AF0-590A-0201-339D-F9FAF47675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756DBA-9A4D-B07F-F26A-DE3CBB9D8A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A0037E-59E1-6F6E-977A-7115397C9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91C8D-5E78-45E6-8E31-5E0DAAB5E5B1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BBD7E4-7398-76BC-4AEA-70FDE0CFD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C0FE5B-68D7-3C51-3995-C3334E461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2CA31-78B8-4B50-A76F-0B2707EB29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3831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DC70B-2E99-1F8E-5E89-F93CFC801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F49942-CF1A-7B49-7C3F-79BAABBCCF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6E1442-05B2-83FE-1D6D-D39EC20EB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91C8D-5E78-45E6-8E31-5E0DAAB5E5B1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F4FBCC-54AD-AC18-689D-B6258602E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8B8521-8559-E58A-0F89-E8D90BE55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2CA31-78B8-4B50-A76F-0B2707EB29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119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ABAC61F-12BE-BF76-67DA-DFC4F51230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021FF1-E139-4CB3-9DA5-5DBB3832F6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46901F-E409-A0D6-91A6-CB277D02FF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91C8D-5E78-45E6-8E31-5E0DAAB5E5B1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E00E39-46AD-0A71-A7A1-6DF27AF8D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9C1BAC-E4F5-C101-369F-88A985AEF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2CA31-78B8-4B50-A76F-0B2707EB29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1064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2FB296-067A-3077-5A91-47948E08E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FA774C-7BB3-8D24-879E-19D4C3DE17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E0FB07-5103-5073-8ECD-9A468EFB6D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391C8D-5E78-45E6-8E31-5E0DAAB5E5B1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83833B-A56B-7695-51C6-2F9613F914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EDD566-7FEF-F30D-1CF8-689E404B03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82CA31-78B8-4B50-A76F-0B2707EB29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345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A06D914-6CF4-1109-627F-C14380C665D9}"/>
              </a:ext>
            </a:extLst>
          </p:cNvPr>
          <p:cNvSpPr txBox="1"/>
          <p:nvPr/>
        </p:nvSpPr>
        <p:spPr>
          <a:xfrm>
            <a:off x="607554" y="3553272"/>
            <a:ext cx="4031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PPL Insight Hub</a:t>
            </a:r>
          </a:p>
        </p:txBody>
      </p:sp>
    </p:spTree>
    <p:extLst>
      <p:ext uri="{BB962C8B-B14F-4D97-AF65-F5344CB8AC3E}">
        <p14:creationId xmlns:p14="http://schemas.microsoft.com/office/powerpoint/2010/main" val="7651664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1556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dirty="0">
                <a:solidFill>
                  <a:srgbClr val="000000"/>
                </a:solidFill>
                <a:latin typeface="Aptos"/>
              </a:rPr>
              <a:t>PPL Insight Hub is a fantasy football operations platform that helps leagues draft smarter, manage teams, and run season workflows in one place.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3307"/>
            <a:ext cx="5390147" cy="384048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WHAT THE SITE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2133074"/>
            <a:ext cx="522555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dirty="0">
                <a:solidFill>
                  <a:srgbClr val="000000"/>
                </a:solidFill>
                <a:latin typeface="Aptos"/>
              </a:rPr>
              <a:t>The platform combines league management, draft support, AI guidance, roster operations, and commissioner controls. It is designed as a single destination for both weekly management and season-long planning.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7982711" y="1703307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 dirty="0">
                <a:solidFill>
                  <a:srgbClr val="000000"/>
                </a:solidFill>
                <a:latin typeface="Aptos"/>
              </a:rPr>
              <a:t>CURRENT DEVELOPMENT PROGRESS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2087355"/>
            <a:ext cx="3712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dirty="0">
                <a:solidFill>
                  <a:srgbClr val="000000"/>
                </a:solidFill>
                <a:latin typeface="Aptos"/>
              </a:rPr>
              <a:t>Core user journeys are implemented and under UAT: login, home, roster flows, waivers, analytics, and commissioner settings. Current focus is usability validation, defect triage, and release-readiness hardening.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823759"/>
            <a:ext cx="5390146" cy="384048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TIMELINE FOR IMPLEMENTATION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1" y="4532659"/>
            <a:ext cx="5100427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000000"/>
                </a:solidFill>
                <a:latin typeface="Aptos"/>
              </a:rPr>
              <a:t>Phase 1 (Current): UAT execution on priority P0 and P1 workflows.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000000"/>
                </a:solidFill>
                <a:latin typeface="Aptos"/>
              </a:rPr>
              <a:t>Phase 2 (Next): Address critical defects, stabilize integrations, and re-test blocked scenarios.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000000"/>
                </a:solidFill>
                <a:latin typeface="Aptos"/>
              </a:rPr>
              <a:t>Phase 3 (Release): Final acceptance sign-off, production checklist, and rollout communication.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28431" y="3854079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BENEFIT TO USERS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4532659"/>
            <a:ext cx="3520441" cy="14927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000000"/>
                </a:solidFill>
                <a:latin typeface="Aptos"/>
              </a:rPr>
              <a:t>Saves time by centralizing fantasy workflows in one platform.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000000"/>
                </a:solidFill>
                <a:latin typeface="Aptos"/>
              </a:rPr>
              <a:t>Improves decision quality with analytics and guided recommendations.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000000"/>
                </a:solidFill>
                <a:latin typeface="Aptos"/>
              </a:rPr>
              <a:t>Creates a clearer, more consistent league experience for managers and commissioners.</a:t>
            </a:r>
          </a:p>
        </p:txBody>
      </p:sp>
    </p:spTree>
    <p:extLst>
      <p:ext uri="{BB962C8B-B14F-4D97-AF65-F5344CB8AC3E}">
        <p14:creationId xmlns:p14="http://schemas.microsoft.com/office/powerpoint/2010/main" val="2012393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Page Directory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This directory gives users a quick map of each major page and the core reason to use it.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15568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92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444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ptos"/>
                        </a:rPr>
                        <a:t>Page / Area</a:t>
                      </a:r>
                    </a:p>
                  </a:txBody>
                  <a:tcPr>
                    <a:solidFill>
                      <a:srgbClr val="E6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ptos"/>
                        </a:rPr>
                        <a:t>High-Level Context</a:t>
                      </a:r>
                    </a:p>
                  </a:txBody>
                  <a:tcPr>
                    <a:solidFill>
                      <a:srgbClr val="E6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ptos"/>
                        </a:rPr>
                        <a:t>Primary Users</a:t>
                      </a:r>
                    </a:p>
                  </a:txBody>
                  <a:tcPr>
                    <a:solidFill>
                      <a:srgbClr val="E6EE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444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Login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Sign in securely and access the right league context.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All users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444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Home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See standings, headlines, and shortcuts to common actions.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All users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444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War Room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Run the live auction draft experience in real time.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Managers + Commissioner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444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Chat Advisor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Ask league questions and get plain-language guidance.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All users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444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My Team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Set lineups, review roster health, and manage weekly decisions.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Managers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444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Matchups / Game Center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Compare teams, track outcomes, and review matchup detail.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Managers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444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Waiver Wire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Submit claims and make roster pickup/drop moves.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Managers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444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Keepers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Review and submit keeper selections for future seasons.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Managers + Commissioner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444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Analytics / Playoff Bracket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View trends, projections, and postseason status.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All users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444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Commissioner 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Manage owners, rules, trades, and divisions.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Commissioner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0444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Admin Settings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Handle platform-level maintenance and configuration.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Admin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044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Report a Bug + UAT Handoff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Capture defects with evidence and pass results to triage.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All testers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15787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62456"/>
            <a:ext cx="7150608" cy="47914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Login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Login establishes authenticated access and league context for every workflow.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/>
            <a:r>
              <a:rPr sz="1400" b="0">
                <a:solidFill>
                  <a:srgbClr val="000000"/>
                </a:solidFill>
                <a:latin typeface="Aptos"/>
              </a:rPr>
              <a:t>Allow users to authenticate quickly and enter the app with the correct league selected.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User enters credentials and league details from a single entry screen.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Validation errors are clear and actionable before retry.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Successful sign-in routes directly into the authenticated app shell.</a:t>
            </a:r>
          </a:p>
        </p:txBody>
      </p:sp>
    </p:spTree>
    <p:extLst>
      <p:ext uri="{BB962C8B-B14F-4D97-AF65-F5344CB8AC3E}">
        <p14:creationId xmlns:p14="http://schemas.microsoft.com/office/powerpoint/2010/main" val="15428457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62456"/>
            <a:ext cx="7150608" cy="47914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Home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Home is the launch point for standings, status, and fast navigation to core tools.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/>
            <a:r>
              <a:rPr sz="1400" b="0">
                <a:solidFill>
                  <a:srgbClr val="000000"/>
                </a:solidFill>
                <a:latin typeface="Aptos"/>
              </a:rPr>
              <a:t>Give managers immediate league context and quick access to team and roster decisions.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Surface standing, activity, and key league state at a glance.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Provide clear navigation to roster, waivers, and commissioner workflows.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Keep summary content readable without requiring scrolling for first actions.</a:t>
            </a:r>
          </a:p>
        </p:txBody>
      </p:sp>
    </p:spTree>
    <p:extLst>
      <p:ext uri="{BB962C8B-B14F-4D97-AF65-F5344CB8AC3E}">
        <p14:creationId xmlns:p14="http://schemas.microsoft.com/office/powerpoint/2010/main" val="1156583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62456"/>
            <a:ext cx="7150608" cy="47914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War 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War Room supports live draft execution with board state and nomination controls.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/>
            <a:r>
              <a:rPr sz="1400" b="0">
                <a:solidFill>
                  <a:srgbClr val="000000"/>
                </a:solidFill>
                <a:latin typeface="Aptos"/>
              </a:rPr>
              <a:t>Enable managers and commissioners to execute draft actions with full context.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Draft board shows picks, owners, and roster pressure in real time.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Nomination and bid flow keeps amounts and owner turns visible.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Best available panel augments pick quality during draft windows.</a:t>
            </a:r>
          </a:p>
        </p:txBody>
      </p:sp>
    </p:spTree>
    <p:extLst>
      <p:ext uri="{BB962C8B-B14F-4D97-AF65-F5344CB8AC3E}">
        <p14:creationId xmlns:p14="http://schemas.microsoft.com/office/powerpoint/2010/main" val="10206249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62456"/>
            <a:ext cx="7150608" cy="47914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Chat Advisor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Chat Advisor provides conversational guidance for lineup and roster choices.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/>
            <a:r>
              <a:rPr sz="1400" b="0">
                <a:solidFill>
                  <a:srgbClr val="000000"/>
                </a:solidFill>
                <a:latin typeface="Aptos"/>
              </a:rPr>
              <a:t>Help users ask natural-language questions and receive actionable football guidance.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Prompt entry and response pane remain readable during long exchanges.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Response format supports quick decisions before lineup lock.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Error and loading states are explicit when advisor data is unavailable.</a:t>
            </a:r>
          </a:p>
        </p:txBody>
      </p:sp>
    </p:spTree>
    <p:extLst>
      <p:ext uri="{BB962C8B-B14F-4D97-AF65-F5344CB8AC3E}">
        <p14:creationId xmlns:p14="http://schemas.microsoft.com/office/powerpoint/2010/main" val="27142841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62456"/>
            <a:ext cx="7150608" cy="47914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Draft Day Analyzer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Draft Day Analyzer evaluates value and roster construction signals during draft.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/>
            <a:r>
              <a:rPr sz="1400" b="0">
                <a:solidFill>
                  <a:srgbClr val="000000"/>
                </a:solidFill>
                <a:latin typeface="Aptos"/>
              </a:rPr>
              <a:t>Identify high-value picks and positional risk before submitting bids or selections.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Show value indicators for candidate players by position.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Highlight roster balance and positional scarcity impact.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Support pick strategy without requiring manual spreadsheet analysis.</a:t>
            </a:r>
          </a:p>
        </p:txBody>
      </p:sp>
    </p:spTree>
    <p:extLst>
      <p:ext uri="{BB962C8B-B14F-4D97-AF65-F5344CB8AC3E}">
        <p14:creationId xmlns:p14="http://schemas.microsoft.com/office/powerpoint/2010/main" val="33504565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62456"/>
            <a:ext cx="7150608" cy="47914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My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My Team is the primary roster management surface for weekly lineup control.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/>
            <a:r>
              <a:rPr sz="1400" b="0">
                <a:solidFill>
                  <a:srgbClr val="000000"/>
                </a:solidFill>
                <a:latin typeface="Aptos"/>
              </a:rPr>
              <a:t>Let users review roster slots, submit legal lineups, and evaluate bench options.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Starter and bench groupings are clearly separated by role.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Lineup actions enforce league rules with clear validation feedback.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Trade and player detail actions are accessible from the roster cards.</a:t>
            </a:r>
          </a:p>
        </p:txBody>
      </p:sp>
    </p:spTree>
    <p:extLst>
      <p:ext uri="{BB962C8B-B14F-4D97-AF65-F5344CB8AC3E}">
        <p14:creationId xmlns:p14="http://schemas.microsoft.com/office/powerpoint/2010/main" val="34253386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62456"/>
            <a:ext cx="7150608" cy="47914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Matchups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Matchups summarizes head-to-head outcomes and weekly scoreboard context.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/>
            <a:r>
              <a:rPr sz="1400" b="0">
                <a:solidFill>
                  <a:srgbClr val="000000"/>
                </a:solidFill>
                <a:latin typeface="Aptos"/>
              </a:rPr>
              <a:t>Allow users to compare teams quickly and navigate to game-level detail.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Weekly matchup cards are visible with team totals and status.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Navigation between matchup weeks is consistent and predictable.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Entry points to Game Center are obvious for deeper analysis.</a:t>
            </a:r>
          </a:p>
        </p:txBody>
      </p:sp>
    </p:spTree>
    <p:extLst>
      <p:ext uri="{BB962C8B-B14F-4D97-AF65-F5344CB8AC3E}">
        <p14:creationId xmlns:p14="http://schemas.microsoft.com/office/powerpoint/2010/main" val="30300470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62456"/>
            <a:ext cx="7150608" cy="47914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Game Center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Game Center provides detailed scoring context for a single matchup.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/>
            <a:r>
              <a:rPr sz="1400" b="0">
                <a:solidFill>
                  <a:srgbClr val="000000"/>
                </a:solidFill>
                <a:latin typeface="Aptos"/>
              </a:rPr>
              <a:t>Help users understand where points are gained or lost across starters and bench.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Per-player scoring context is visible for both teams.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Remaining game and matchup trend information stays readable.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Comparative view supports start/sit and waiver decisions.</a:t>
            </a:r>
          </a:p>
        </p:txBody>
      </p:sp>
    </p:spTree>
    <p:extLst>
      <p:ext uri="{BB962C8B-B14F-4D97-AF65-F5344CB8AC3E}">
        <p14:creationId xmlns:p14="http://schemas.microsoft.com/office/powerpoint/2010/main" val="7458193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62456"/>
            <a:ext cx="7150608" cy="47914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Waiver Wire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Waiver Wire supports claim, drop, and priority-based player acquisition.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/>
            <a:r>
              <a:rPr sz="1400" b="0">
                <a:solidFill>
                  <a:srgbClr val="000000"/>
                </a:solidFill>
                <a:latin typeface="Aptos"/>
              </a:rPr>
              <a:t>Let managers add players safely while preserving waiver policy constraints.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Player pool is filterable and claim actions are clearly presented.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Claim confirmation protects users from accidental submissions.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Roster-full flow clearly transitions into drop-player selection.</a:t>
            </a:r>
          </a:p>
        </p:txBody>
      </p:sp>
    </p:spTree>
    <p:extLst>
      <p:ext uri="{BB962C8B-B14F-4D97-AF65-F5344CB8AC3E}">
        <p14:creationId xmlns:p14="http://schemas.microsoft.com/office/powerpoint/2010/main" val="24667126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at_keepers_p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62456"/>
            <a:ext cx="7150608" cy="47914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Keepers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Keepers allows managers to select and lock eligible retained players.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/>
            <a:r>
              <a:rPr sz="1400" b="0">
                <a:solidFill>
                  <a:srgbClr val="000000"/>
                </a:solidFill>
                <a:latin typeface="Aptos"/>
              </a:rPr>
              <a:t>Support off-season retention with rule-aware selections and lock workflow.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Eligible players and keeper cost context are visible before submit.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Submit and lock actions are separated to prevent premature finalization.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Keeper status remains visible after save and refresh cycles.</a:t>
            </a:r>
          </a:p>
        </p:txBody>
      </p:sp>
    </p:spTree>
    <p:extLst>
      <p:ext uri="{BB962C8B-B14F-4D97-AF65-F5344CB8AC3E}">
        <p14:creationId xmlns:p14="http://schemas.microsoft.com/office/powerpoint/2010/main" val="18331184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62456"/>
            <a:ext cx="7150608" cy="47914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Analytics Dashboard is the chart navigation hub for league insight modules.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/>
            <a:r>
              <a:rPr sz="1400" b="0">
                <a:solidFill>
                  <a:srgbClr val="000000"/>
                </a:solidFill>
                <a:latin typeface="Aptos"/>
              </a:rPr>
              <a:t>Provide one-click access to trend, value, efficiency, and trade analysis tools.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Chart selector buttons expose each analytics module explicitly.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Selected chart panel renders within a consistent card surface.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Users can pivot between chart types without leaving the page.</a:t>
            </a:r>
          </a:p>
        </p:txBody>
      </p:sp>
    </p:spTree>
    <p:extLst>
      <p:ext uri="{BB962C8B-B14F-4D97-AF65-F5344CB8AC3E}">
        <p14:creationId xmlns:p14="http://schemas.microsoft.com/office/powerpoint/2010/main" val="25380046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62456"/>
            <a:ext cx="7150608" cy="47914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Playoff Bracket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Playoff Bracket visualizes elimination paths and round progression.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/>
            <a:r>
              <a:rPr sz="1400" b="0">
                <a:solidFill>
                  <a:srgbClr val="000000"/>
                </a:solidFill>
                <a:latin typeface="Aptos"/>
              </a:rPr>
              <a:t>Enable users to verify playoff seeding and advancement paths at a glance.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Round and matchup progression is structurally easy to follow.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Team placement reflects latest playoff state from league data.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Bracket remains readable on standard desktop viewport captures.</a:t>
            </a:r>
          </a:p>
        </p:txBody>
      </p:sp>
    </p:spTree>
    <p:extLst>
      <p:ext uri="{BB962C8B-B14F-4D97-AF65-F5344CB8AC3E}">
        <p14:creationId xmlns:p14="http://schemas.microsoft.com/office/powerpoint/2010/main" val="9141758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62456"/>
            <a:ext cx="7150608" cy="47914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Commissioner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Commissioner Dashboard centralizes league governance and admin entry points.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/>
            <a:r>
              <a:rPr sz="1400" b="0">
                <a:solidFill>
                  <a:srgbClr val="000000"/>
                </a:solidFill>
                <a:latin typeface="Aptos"/>
              </a:rPr>
              <a:t>Give commissioners a single launch surface for all league configuration actions.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Control cards route to lineup, waiver, trade, and division management.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Commissioner-only access boundaries are visible and testable.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Primary edit actions are clearly labeled per governance area.</a:t>
            </a:r>
          </a:p>
        </p:txBody>
      </p:sp>
    </p:spTree>
    <p:extLst>
      <p:ext uri="{BB962C8B-B14F-4D97-AF65-F5344CB8AC3E}">
        <p14:creationId xmlns:p14="http://schemas.microsoft.com/office/powerpoint/2010/main" val="5538285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62456"/>
            <a:ext cx="7150608" cy="47914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Commissioner - Manage Owners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Manage Owners controls league member profile and team metadata.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/>
            <a:r>
              <a:rPr sz="1400" b="0">
                <a:solidFill>
                  <a:srgbClr val="000000"/>
                </a:solidFill>
                <a:latin typeface="Aptos"/>
              </a:rPr>
              <a:t>Allow commissioner updates to owner records with safe edit/save flow.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Owner rows are editable with clear validation boundaries.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Unsaved and saved states are distinct for change confidence.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Updated owner metadata persists and is visible after refresh.</a:t>
            </a:r>
          </a:p>
        </p:txBody>
      </p:sp>
    </p:spTree>
    <p:extLst>
      <p:ext uri="{BB962C8B-B14F-4D97-AF65-F5344CB8AC3E}">
        <p14:creationId xmlns:p14="http://schemas.microsoft.com/office/powerpoint/2010/main" val="2798783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at_commissioner_lineup_rules_p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62456"/>
            <a:ext cx="7150608" cy="47914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Commissioner - Lineup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Lineup Rules configures legal roster slot behavior for all teams.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/>
            <a:r>
              <a:rPr sz="1400" b="0">
                <a:solidFill>
                  <a:srgbClr val="000000"/>
                </a:solidFill>
                <a:latin typeface="Aptos"/>
              </a:rPr>
              <a:t>Define and enforce lineup constraints that downstream team pages must honor.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Rule controls are editable with explicit save action.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Lineup validation behavior maps to configured slot rules.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Rule changes are durable and visible after navigation.</a:t>
            </a:r>
          </a:p>
        </p:txBody>
      </p:sp>
    </p:spTree>
    <p:extLst>
      <p:ext uri="{BB962C8B-B14F-4D97-AF65-F5344CB8AC3E}">
        <p14:creationId xmlns:p14="http://schemas.microsoft.com/office/powerpoint/2010/main" val="20166753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62456"/>
            <a:ext cx="7150608" cy="47914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Commissioner - Waiver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Waiver Rules configures timing, priority, and claim policy behavior.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/>
            <a:r>
              <a:rPr sz="1400" b="0">
                <a:solidFill>
                  <a:srgbClr val="000000"/>
                </a:solidFill>
                <a:latin typeface="Aptos"/>
              </a:rPr>
              <a:t>Allow commissioners to update waiver policy that directly governs claim outcomes.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Current and editable waiver settings are shown together for review.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Update Waiver Rules action writes policy changes explicitly.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Saved settings persist and reflect on member-facing waiver flows.</a:t>
            </a:r>
          </a:p>
        </p:txBody>
      </p:sp>
    </p:spTree>
    <p:extLst>
      <p:ext uri="{BB962C8B-B14F-4D97-AF65-F5344CB8AC3E}">
        <p14:creationId xmlns:p14="http://schemas.microsoft.com/office/powerpoint/2010/main" val="24107176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62456"/>
            <a:ext cx="7150608" cy="47914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Commissioner - Manage Trades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Manage Trades is the commissioner approval/rejection workflow for trade requests.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/>
            <a:r>
              <a:rPr sz="1400" b="0">
                <a:solidFill>
                  <a:srgbClr val="000000"/>
                </a:solidFill>
                <a:latin typeface="Aptos"/>
              </a:rPr>
              <a:t>Support auditable trade moderation with immediate status transitions.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Pending trades are visible with ownership context.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Approve/reject actions are explicit and actionable.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Trade status updates are durable after refresh.</a:t>
            </a:r>
          </a:p>
        </p:txBody>
      </p:sp>
    </p:spTree>
    <p:extLst>
      <p:ext uri="{BB962C8B-B14F-4D97-AF65-F5344CB8AC3E}">
        <p14:creationId xmlns:p14="http://schemas.microsoft.com/office/powerpoint/2010/main" val="3994744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62456"/>
            <a:ext cx="7150608" cy="47914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Commissioner - Manage Divisions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Manage Divisions defines group structure used by standings and scheduling.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/>
            <a:r>
              <a:rPr sz="1400" b="0">
                <a:solidFill>
                  <a:srgbClr val="000000"/>
                </a:solidFill>
                <a:latin typeface="Aptos"/>
              </a:rPr>
              <a:t>Allow commissioner to edit division assignments without ambiguity.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Division assignment controls are visible and deterministic.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Save/confirm path protects against partial updates.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Division changes propagate into standings context.</a:t>
            </a:r>
          </a:p>
        </p:txBody>
      </p:sp>
    </p:spTree>
    <p:extLst>
      <p:ext uri="{BB962C8B-B14F-4D97-AF65-F5344CB8AC3E}">
        <p14:creationId xmlns:p14="http://schemas.microsoft.com/office/powerpoint/2010/main" val="36968301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62456"/>
            <a:ext cx="7150608" cy="47914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Admin Settings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Admin Settings manages global controls beyond league-level permissions.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/>
            <a:r>
              <a:rPr sz="1400" b="0">
                <a:solidFill>
                  <a:srgbClr val="000000"/>
                </a:solidFill>
                <a:latin typeface="Aptos"/>
              </a:rPr>
              <a:t>Provide site administrators with role and platform-level control points.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Admin-only controls are isolated from standard user pages.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Role management actions include clear confirmation feedback.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Operational updates remain visible after refresh.</a:t>
            </a:r>
          </a:p>
        </p:txBody>
      </p:sp>
    </p:spTree>
    <p:extLst>
      <p:ext uri="{BB962C8B-B14F-4D97-AF65-F5344CB8AC3E}">
        <p14:creationId xmlns:p14="http://schemas.microsoft.com/office/powerpoint/2010/main" val="33497218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62456"/>
            <a:ext cx="7150608" cy="47914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Report a Bug + UAT Handoff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Bug report flow closes the loop between UAT findings and engineering action.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/>
            <a:r>
              <a:rPr sz="1400" b="0">
                <a:solidFill>
                  <a:srgbClr val="000000"/>
                </a:solidFill>
                <a:latin typeface="Aptos"/>
              </a:rPr>
              <a:t>Ensure tester evidence and defect details are captured before release decisions.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Bug report form captures reproducible issue context for triage.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UAT workbook references are visible for pass/fail traceability.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Handoff path from tester to fix owner is explicit.</a:t>
            </a:r>
          </a:p>
        </p:txBody>
      </p:sp>
    </p:spTree>
    <p:extLst>
      <p:ext uri="{BB962C8B-B14F-4D97-AF65-F5344CB8AC3E}">
        <p14:creationId xmlns:p14="http://schemas.microsoft.com/office/powerpoint/2010/main" val="18281844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62456"/>
            <a:ext cx="7150608" cy="47914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Key Modals and Overlays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Modal states are captured separately for workflows requiring explicit confirmation.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/>
            <a:r>
              <a:rPr sz="1400" b="0">
                <a:solidFill>
                  <a:srgbClr val="000000"/>
                </a:solidFill>
                <a:latin typeface="Aptos"/>
              </a:rPr>
              <a:t>Highlight commissioner-only overlay behavior for draft budget governance.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Set Draft Budgets modal opens from Commissioner Dashboard.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Budget entry controls and action placement are visible and readable.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Modal close and save affordances are obvious for testers.</a:t>
            </a:r>
          </a:p>
        </p:txBody>
      </p:sp>
    </p:spTree>
    <p:extLst>
      <p:ext uri="{BB962C8B-B14F-4D97-AF65-F5344CB8AC3E}">
        <p14:creationId xmlns:p14="http://schemas.microsoft.com/office/powerpoint/2010/main" val="28472996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62456"/>
            <a:ext cx="7150608" cy="47914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Trade Proposal 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Modal states are captured separately for workflows requiring explicit confirmation.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/>
            <a:r>
              <a:rPr sz="1400" b="0">
                <a:solidFill>
                  <a:srgbClr val="000000"/>
                </a:solidFill>
                <a:latin typeface="Aptos"/>
              </a:rPr>
              <a:t>Capture trade proposal inputs before submit so field behavior can be validated.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Manager, offered player, and requested player fields are visible.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Submit and cancel controls are accessible and unambiguous.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Labels match the user-facing trade workflow language.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62456"/>
            <a:ext cx="7150608" cy="47914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Player Season Performance 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Modal states are captured separately for workflows requiring explicit confirmation.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/>
            <a:r>
              <a:rPr sz="1400" b="0">
                <a:solidFill>
                  <a:srgbClr val="000000"/>
                </a:solidFill>
                <a:latin typeface="Aptos"/>
              </a:rPr>
              <a:t>Display player season detail context used for start/sit and trade decisions.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Identity block and season metrics render in one consolidated modal.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Key stats remain legible on desktop viewport capture.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Exit control closes modal without losing page state.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62456"/>
            <a:ext cx="7150608" cy="47914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Waiver Wire Modal 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Modal states are captured separately for workflows requiring explicit confirmation.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/>
            <a:r>
              <a:rPr sz="1400" b="0">
                <a:solidFill>
                  <a:srgbClr val="000000"/>
                </a:solidFill>
                <a:latin typeface="Aptos"/>
              </a:rPr>
              <a:t>Validate waiver claim confirmation and roster-full drop workflow behavior.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Confirm Waiver Action modal is captured when claim controls are available.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Roster Full drop-player modal is captured for forced replacement flow.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Deterministic fallback artifacts are generated if claim controls are suppressed.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62456"/>
            <a:ext cx="7150608" cy="47914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Commissioner - Keeper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Keeper Rules control retention limits and commissioner override operations.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/>
            <a:r>
              <a:rPr sz="1400" b="0">
                <a:solidFill>
                  <a:srgbClr val="000000"/>
                </a:solidFill>
                <a:latin typeface="Aptos"/>
              </a:rPr>
              <a:t>Allow commissioner to configure keeper policy and admin-level keeper operations.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Max keepers, max years, and deadlines are editable from one form.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Save action applies keeper settings for downstream owner selection.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Admin operations (veto/reset) are visible for governance workflows.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at_commissioner_ledger_statement_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62456"/>
            <a:ext cx="7150608" cy="47914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Commissioner - General Ledger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Ledger Statement provides auditable transaction history by selected owner.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/>
            <a:r>
              <a:rPr sz="1400" b="0">
                <a:solidFill>
                  <a:srgbClr val="000000"/>
                </a:solidFill>
                <a:latin typeface="Aptos"/>
              </a:rPr>
              <a:t>Enable commissioner audit of financial and budget-related transactions.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Owner, currency, and season filters constrain statement output.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Summary cards expose balance and entry counts before table review.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Entry table includes type, direction, amount, and references.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at_owner_ledger_statement_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62456"/>
            <a:ext cx="7150608" cy="47914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Owner - My Ledger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Owner ledger view exposes personal transaction history and running balance.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/>
            <a:r>
              <a:rPr sz="1400" b="0">
                <a:solidFill>
                  <a:srgbClr val="000000"/>
                </a:solidFill>
                <a:latin typeface="Aptos"/>
              </a:rPr>
              <a:t>Allow each manager to self-audit credits, debits, and transaction notes.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Owner can filter by currency and season year.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Balance is visible without leaving the statement page.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Transaction table remains readable with references and notes.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62456"/>
            <a:ext cx="7150608" cy="47914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War Room - Show Best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Best Available panel surfaces filtered candidate targets during active drafting.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/>
            <a:r>
              <a:rPr sz="1400" b="0">
                <a:solidFill>
                  <a:srgbClr val="000000"/>
                </a:solidFill>
                <a:latin typeface="Aptos"/>
              </a:rPr>
              <a:t>Support faster draft decisions with sortable player and value context.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Panel includes rank, player identity, and projected value fields.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Position filters narrow candidate list by roster need.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Sidebar can be toggled without losing draft board visibility.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at_player_identity_card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62456"/>
            <a:ext cx="7150608" cy="47914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Player Card Detail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Player card detail highlights identity and context before deeper stat review.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/>
            <a:r>
              <a:rPr sz="1400" b="0">
                <a:solidFill>
                  <a:srgbClr val="000000"/>
                </a:solidFill>
                <a:latin typeface="Aptos"/>
              </a:rPr>
              <a:t>Ensure player identity data is clear at the top of detail modal workflows.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Player name, position, and NFL team are immediately visible.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Identity section anchors the season metrics shown below.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Card layout remains readable for quick in-draft decisions.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at_analytics_draft_value_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62456"/>
            <a:ext cx="7150608" cy="47914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Analytics - Draft Value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Draft Value Analysis compares pick outcomes and value efficiency.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/>
            <a:r>
              <a:rPr sz="1400" b="0">
                <a:solidFill>
                  <a:srgbClr val="000000"/>
                </a:solidFill>
                <a:latin typeface="Aptos"/>
              </a:rPr>
              <a:t>Help users identify where draft capital produced surplus or deficit value.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Draft Value Analysis module is selected from analytics controls.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Chart panel reflects selected analytics mode in-place.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Outputs support trade and roster planning decisions.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at_analytics_efficiency_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62456"/>
            <a:ext cx="7150608" cy="47914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Analytics - Efficiency Leaderboard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Efficiency Leaderboard ranks managers by performance and execution quality.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/>
            <a:r>
              <a:rPr sz="1400" b="0">
                <a:solidFill>
                  <a:srgbClr val="000000"/>
                </a:solidFill>
                <a:latin typeface="Aptos"/>
              </a:rPr>
              <a:t>Expose comparative manager efficiency for weekly strategic adjustments.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Leaderboard mode is selected from analytics module buttons.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Manager ranking output is readable within analytics panel.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Comparative results support lineup and waiver prioritization.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at_analytics_trade_analyzer_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62456"/>
            <a:ext cx="7150608" cy="47914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Analytics - Trade Analyzer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Trade Analyzer models likely impact before proposing a trade package.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/>
            <a:r>
              <a:rPr sz="1400" b="0">
                <a:solidFill>
                  <a:srgbClr val="000000"/>
                </a:solidFill>
                <a:latin typeface="Aptos"/>
              </a:rPr>
              <a:t>Allow users to evaluate trade scenarios before submitting proposals.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Trade Analyzer mode is selected from analytics controls.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Scenario output appears within the standard analytics card layout.</a:t>
            </a:r>
          </a:p>
          <a:p>
            <a:pPr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Result context helps users avoid negative-value trade submissions.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2273</Words>
  <Application>Microsoft Office PowerPoint</Application>
  <PresentationFormat>Widescreen</PresentationFormat>
  <Paragraphs>274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Nick Grant</dc:creator>
  <cp:lastModifiedBy>Nick Grant</cp:lastModifiedBy>
  <cp:revision>3</cp:revision>
  <dcterms:created xsi:type="dcterms:W3CDTF">2026-03-07T21:22:06Z</dcterms:created>
  <dcterms:modified xsi:type="dcterms:W3CDTF">2026-03-07T23:16:43Z</dcterms:modified>
</cp:coreProperties>
</file>